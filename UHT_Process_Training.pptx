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F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F6C"/>
          </a:solidFill>
          <a:ln/>
        </p:spPr>
      </p:sp>
      <p:sp>
        <p:nvSpPr>
          <p:cNvPr id="3" name="Shape 1"/>
          <p:cNvSpPr/>
          <p:nvPr/>
        </p:nvSpPr>
        <p:spPr>
          <a:xfrm>
            <a:off x="8412480" y="-2011680"/>
            <a:ext cx="6400800" cy="6400800"/>
          </a:xfrm>
          <a:prstGeom prst="ellipse">
            <a:avLst/>
          </a:prstGeom>
          <a:solidFill>
            <a:srgbClr val="001F49"/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4206240"/>
            <a:ext cx="3840480" cy="3840480"/>
          </a:xfrm>
          <a:prstGeom prst="ellipse">
            <a:avLst/>
          </a:prstGeom>
          <a:solidFill>
            <a:srgbClr val="00AEE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640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E S T L É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0515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Training Handbook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651760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UHT PROCESS TRAINING</a:t>
            </a:r>
            <a:endParaRPr lang="en-US" sz="52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37947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 Heat Treatment — Machine &amp; Process Hierarchy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5074920"/>
            <a:ext cx="1568196" cy="457200"/>
          </a:xfrm>
          <a:prstGeom prst="roundRect">
            <a:avLst>
              <a:gd name="adj" fmla="val 12000"/>
            </a:avLst>
          </a:prstGeom>
          <a:solidFill>
            <a:srgbClr val="001F49"/>
          </a:solidFill>
          <a:ln w="12700">
            <a:solidFill>
              <a:srgbClr val="3E5D9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5074920"/>
            <a:ext cx="15681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MIXING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28316" y="5074920"/>
            <a:ext cx="4037076" cy="457200"/>
          </a:xfrm>
          <a:prstGeom prst="roundRect">
            <a:avLst>
              <a:gd name="adj" fmla="val 12000"/>
            </a:avLst>
          </a:prstGeom>
          <a:solidFill>
            <a:srgbClr val="001F49"/>
          </a:solidFill>
          <a:ln w="12700">
            <a:solidFill>
              <a:srgbClr val="3E5D9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528316" y="5074920"/>
            <a:ext cx="40370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PROCESSING (STERILIZATION)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93992" y="5074920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001F49"/>
          </a:solidFill>
          <a:ln w="12700">
            <a:solidFill>
              <a:srgbClr val="3E5D9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93992" y="50749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FILLING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6217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Training Aid  •  Confidential — Internal Use Only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HIERARCHY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UHT Process Structure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991356" y="1691640"/>
            <a:ext cx="4206240" cy="868680"/>
          </a:xfrm>
          <a:prstGeom prst="roundRect">
            <a:avLst>
              <a:gd name="adj" fmla="val 10526"/>
            </a:avLst>
          </a:prstGeom>
          <a:solidFill>
            <a:srgbClr val="002F6C"/>
          </a:solidFill>
          <a:ln/>
          <a:effectLst>
            <a:outerShdw sx="100000" sy="100000" kx="0" ky="0" algn="bl" rotWithShape="0" blurRad="101600" dist="38100" dir="5400000">
              <a:srgbClr val="1B1F2A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3991356" y="176479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UHT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3991356" y="217627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F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 Heat Treatment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094476" y="2560320"/>
            <a:ext cx="0" cy="457200"/>
          </a:xfrm>
          <a:prstGeom prst="line">
            <a:avLst/>
          </a:prstGeom>
          <a:noFill/>
          <a:ln w="25400">
            <a:solidFill>
              <a:srgbClr val="AAB8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99716" y="3017520"/>
            <a:ext cx="7589520" cy="0"/>
          </a:xfrm>
          <a:prstGeom prst="line">
            <a:avLst/>
          </a:prstGeom>
          <a:noFill/>
          <a:ln w="25400">
            <a:solidFill>
              <a:srgbClr val="AAB8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99716" y="3017520"/>
            <a:ext cx="0" cy="274320"/>
          </a:xfrm>
          <a:prstGeom prst="line">
            <a:avLst/>
          </a:prstGeom>
          <a:noFill/>
          <a:ln w="25400">
            <a:solidFill>
              <a:srgbClr val="AAB8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8076" y="3291840"/>
            <a:ext cx="3383280" cy="1600200"/>
          </a:xfrm>
          <a:prstGeom prst="roundRect">
            <a:avLst>
              <a:gd name="adj" fmla="val 5143"/>
            </a:avLst>
          </a:prstGeom>
          <a:solidFill>
            <a:srgbClr val="00AEEF"/>
          </a:solidFill>
          <a:ln/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45236" y="34015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1F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Mixing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90956" y="3913632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1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  •  PHE  •  Standardization Tanks  •  Valve Cluster  •  Material Dissolving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94476" y="3017520"/>
            <a:ext cx="0" cy="274320"/>
          </a:xfrm>
          <a:prstGeom prst="line">
            <a:avLst/>
          </a:prstGeom>
          <a:noFill/>
          <a:ln w="25400">
            <a:solidFill>
              <a:srgbClr val="AAB8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02836" y="3291840"/>
            <a:ext cx="3383280" cy="1600200"/>
          </a:xfrm>
          <a:prstGeom prst="roundRect">
            <a:avLst>
              <a:gd name="adj" fmla="val 5143"/>
            </a:avLst>
          </a:prstGeom>
          <a:solidFill>
            <a:srgbClr val="00AEEF"/>
          </a:solidFill>
          <a:ln/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4539996" y="34015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1F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Processing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01F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(Sterilization)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585716" y="3913632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1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Pre-Heating  •  Final Heating  •  Holding  •  Cooling  •  Homogenization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889236" y="3017520"/>
            <a:ext cx="0" cy="274320"/>
          </a:xfrm>
          <a:prstGeom prst="line">
            <a:avLst/>
          </a:prstGeom>
          <a:noFill/>
          <a:ln w="25400">
            <a:solidFill>
              <a:srgbClr val="AAB8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97596" y="3291840"/>
            <a:ext cx="3383280" cy="1600200"/>
          </a:xfrm>
          <a:prstGeom prst="roundRect">
            <a:avLst>
              <a:gd name="adj" fmla="val 5143"/>
            </a:avLst>
          </a:prstGeom>
          <a:solidFill>
            <a:srgbClr val="00AEEF"/>
          </a:solidFill>
          <a:ln/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334756" y="34015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1F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Filling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380476" y="3913632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1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Sterilization &amp; CIP/SIP  •  Leak Management  •  Packaging &amp; Sealing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  ·  Overview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UHT PROCESS TRAINING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 ·  MIXING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Categories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6B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Team: A · B · C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1782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112264"/>
            <a:ext cx="457200" cy="457200"/>
          </a:xfrm>
          <a:prstGeom prst="ellipse">
            <a:avLst/>
          </a:prstGeom>
          <a:solidFill>
            <a:srgbClr val="002F6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2112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801368"/>
            <a:ext cx="44119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 — Clean-in-Place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22492" y="1691640"/>
            <a:ext cx="541782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23660" y="2112264"/>
            <a:ext cx="457200" cy="457200"/>
          </a:xfrm>
          <a:prstGeom prst="ellipse">
            <a:avLst/>
          </a:prstGeom>
          <a:solidFill>
            <a:srgbClr val="002F6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23660" y="2112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045452" y="1801368"/>
            <a:ext cx="44119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Scanning Operation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209544"/>
            <a:ext cx="541782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49808" y="3630168"/>
            <a:ext cx="457200" cy="457200"/>
          </a:xfrm>
          <a:prstGeom prst="ellipse">
            <a:avLst/>
          </a:prstGeom>
          <a:solidFill>
            <a:srgbClr val="002F6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49808" y="3630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3319272"/>
            <a:ext cx="44119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 — Plate Heat Exchanger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22492" y="3209544"/>
            <a:ext cx="541782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23660" y="3630168"/>
            <a:ext cx="457200" cy="457200"/>
          </a:xfrm>
          <a:prstGeom prst="ellipse">
            <a:avLst/>
          </a:prstGeom>
          <a:solidFill>
            <a:srgbClr val="002F6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23660" y="3630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045452" y="3319272"/>
            <a:ext cx="44119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Standardization Tanks — Functionality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48640" y="4727448"/>
            <a:ext cx="541782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9808" y="5148072"/>
            <a:ext cx="457200" cy="457200"/>
          </a:xfrm>
          <a:prstGeom prst="ellipse">
            <a:avLst/>
          </a:prstGeom>
          <a:solidFill>
            <a:srgbClr val="002F6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49808" y="5148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371600" y="4837176"/>
            <a:ext cx="44119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Valve Cluster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222492" y="4727448"/>
            <a:ext cx="541782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23660" y="5148072"/>
            <a:ext cx="457200" cy="457200"/>
          </a:xfrm>
          <a:prstGeom prst="ellipse">
            <a:avLst/>
          </a:prstGeom>
          <a:solidFill>
            <a:srgbClr val="002F6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23660" y="5148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7045452" y="4837176"/>
            <a:ext cx="44119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Dissolving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 ·  Mixing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UHT PROCESS TRAINING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 ·  PROCESSING (STERILIZATION)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 Key Characteristics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items from source notes are filled in below; remaining items are left as placeholders for manual update.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3605784" cy="655320"/>
          </a:xfrm>
          <a:prstGeom prst="roundRect">
            <a:avLst>
              <a:gd name="adj" fmla="val 837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1B1F2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30936" y="1827276"/>
            <a:ext cx="384048" cy="384048"/>
          </a:xfrm>
          <a:prstGeom prst="ellipse">
            <a:avLst/>
          </a:prstGeom>
          <a:solidFill>
            <a:srgbClr val="002F6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30936" y="18272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124712" y="1728216"/>
            <a:ext cx="2855976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Pre-Heating Section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1584" y="1691640"/>
            <a:ext cx="3605784" cy="655320"/>
          </a:xfrm>
          <a:prstGeom prst="roundRect">
            <a:avLst>
              <a:gd name="adj" fmla="val 837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1B1F2A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19600" y="1827276"/>
            <a:ext cx="384048" cy="384048"/>
          </a:xfrm>
          <a:prstGeom prst="ellipse">
            <a:avLst/>
          </a:prstGeom>
          <a:solidFill>
            <a:srgbClr val="002F6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419600" y="18272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913376" y="1728216"/>
            <a:ext cx="2855976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Heating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80248" y="1691640"/>
            <a:ext cx="3605784" cy="655320"/>
          </a:xfrm>
          <a:prstGeom prst="roundRect">
            <a:avLst>
              <a:gd name="adj" fmla="val 837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1B1F2A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08264" y="1827276"/>
            <a:ext cx="384048" cy="384048"/>
          </a:xfrm>
          <a:prstGeom prst="ellipse">
            <a:avLst/>
          </a:prstGeom>
          <a:solidFill>
            <a:srgbClr val="002F6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08264" y="18272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702040" y="1728216"/>
            <a:ext cx="2855976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 / Sterilization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2474976"/>
            <a:ext cx="3605784" cy="655320"/>
          </a:xfrm>
          <a:prstGeom prst="roundRect">
            <a:avLst>
              <a:gd name="adj" fmla="val 837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1B1F2A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0936" y="2610612"/>
            <a:ext cx="384048" cy="384048"/>
          </a:xfrm>
          <a:prstGeom prst="ellipse">
            <a:avLst/>
          </a:prstGeom>
          <a:solidFill>
            <a:srgbClr val="002F6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0936" y="26106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124712" y="2511552"/>
            <a:ext cx="2855976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Cooling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291584" y="2474976"/>
            <a:ext cx="3605784" cy="655320"/>
          </a:xfrm>
          <a:prstGeom prst="roundRect">
            <a:avLst>
              <a:gd name="adj" fmla="val 837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1B1F2A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419600" y="2610612"/>
            <a:ext cx="384048" cy="384048"/>
          </a:xfrm>
          <a:prstGeom prst="ellipse">
            <a:avLst/>
          </a:prstGeom>
          <a:solidFill>
            <a:srgbClr val="002F6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419600" y="26106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913376" y="2511552"/>
            <a:ext cx="2855976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Homogenization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080248" y="2474976"/>
            <a:ext cx="3605784" cy="655320"/>
          </a:xfrm>
          <a:prstGeom prst="roundRect">
            <a:avLst>
              <a:gd name="adj" fmla="val 8372"/>
            </a:avLst>
          </a:prstGeom>
          <a:solidFill>
            <a:srgbClr val="FFFFFF"/>
          </a:solidFill>
          <a:ln w="12700">
            <a:solidFill>
              <a:srgbClr val="B9C4D6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8208264" y="2610612"/>
            <a:ext cx="384048" cy="384048"/>
          </a:xfrm>
          <a:prstGeom prst="ellipse">
            <a:avLst/>
          </a:prstGeom>
          <a:solidFill>
            <a:srgbClr val="E4E9F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208264" y="26106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702040" y="2511552"/>
            <a:ext cx="2855976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— to be added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02920" y="3258312"/>
            <a:ext cx="3605784" cy="655320"/>
          </a:xfrm>
          <a:prstGeom prst="roundRect">
            <a:avLst>
              <a:gd name="adj" fmla="val 8372"/>
            </a:avLst>
          </a:prstGeom>
          <a:solidFill>
            <a:srgbClr val="FFFFFF"/>
          </a:solidFill>
          <a:ln w="12700">
            <a:solidFill>
              <a:srgbClr val="B9C4D6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630936" y="3393948"/>
            <a:ext cx="384048" cy="384048"/>
          </a:xfrm>
          <a:prstGeom prst="ellipse">
            <a:avLst/>
          </a:prstGeom>
          <a:solidFill>
            <a:srgbClr val="E4E9F0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30936" y="33939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1124712" y="3294888"/>
            <a:ext cx="2855976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— to be added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291584" y="3258312"/>
            <a:ext cx="3605784" cy="655320"/>
          </a:xfrm>
          <a:prstGeom prst="roundRect">
            <a:avLst>
              <a:gd name="adj" fmla="val 8372"/>
            </a:avLst>
          </a:prstGeom>
          <a:solidFill>
            <a:srgbClr val="FFFFFF"/>
          </a:solidFill>
          <a:ln w="12700">
            <a:solidFill>
              <a:srgbClr val="B9C4D6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4419600" y="3393948"/>
            <a:ext cx="384048" cy="384048"/>
          </a:xfrm>
          <a:prstGeom prst="ellipse">
            <a:avLst/>
          </a:prstGeom>
          <a:solidFill>
            <a:srgbClr val="E4E9F0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4419600" y="33939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4913376" y="3294888"/>
            <a:ext cx="2855976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— to be added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080248" y="3258312"/>
            <a:ext cx="3605784" cy="655320"/>
          </a:xfrm>
          <a:prstGeom prst="roundRect">
            <a:avLst>
              <a:gd name="adj" fmla="val 8372"/>
            </a:avLst>
          </a:prstGeom>
          <a:solidFill>
            <a:srgbClr val="FFFFFF"/>
          </a:solidFill>
          <a:ln w="12700">
            <a:solidFill>
              <a:srgbClr val="B9C4D6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8208264" y="3393948"/>
            <a:ext cx="384048" cy="384048"/>
          </a:xfrm>
          <a:prstGeom prst="ellipse">
            <a:avLst/>
          </a:prstGeom>
          <a:solidFill>
            <a:srgbClr val="E4E9F0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8208264" y="33939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702040" y="3294888"/>
            <a:ext cx="2855976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— to be added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02920" y="4041648"/>
            <a:ext cx="3605784" cy="655320"/>
          </a:xfrm>
          <a:prstGeom prst="roundRect">
            <a:avLst>
              <a:gd name="adj" fmla="val 8372"/>
            </a:avLst>
          </a:prstGeom>
          <a:solidFill>
            <a:srgbClr val="FFFFFF"/>
          </a:solidFill>
          <a:ln w="12700">
            <a:solidFill>
              <a:srgbClr val="B9C4D6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630936" y="4177284"/>
            <a:ext cx="384048" cy="384048"/>
          </a:xfrm>
          <a:prstGeom prst="ellipse">
            <a:avLst/>
          </a:prstGeom>
          <a:solidFill>
            <a:srgbClr val="E4E9F0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630936" y="41772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1124712" y="4078224"/>
            <a:ext cx="2855976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— to be added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291584" y="4041648"/>
            <a:ext cx="3605784" cy="655320"/>
          </a:xfrm>
          <a:prstGeom prst="roundRect">
            <a:avLst>
              <a:gd name="adj" fmla="val 8372"/>
            </a:avLst>
          </a:prstGeom>
          <a:solidFill>
            <a:srgbClr val="FFFFFF"/>
          </a:solidFill>
          <a:ln w="12700">
            <a:solidFill>
              <a:srgbClr val="B9C4D6"/>
            </a:solidFill>
            <a:prstDash val="dash"/>
          </a:ln>
        </p:spPr>
      </p:sp>
      <p:sp>
        <p:nvSpPr>
          <p:cNvPr id="46" name="Shape 44"/>
          <p:cNvSpPr/>
          <p:nvPr/>
        </p:nvSpPr>
        <p:spPr>
          <a:xfrm>
            <a:off x="4419600" y="4177284"/>
            <a:ext cx="384048" cy="384048"/>
          </a:xfrm>
          <a:prstGeom prst="ellipse">
            <a:avLst/>
          </a:prstGeom>
          <a:solidFill>
            <a:srgbClr val="E4E9F0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4419600" y="41772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4913376" y="4078224"/>
            <a:ext cx="2855976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— to be added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8080248" y="4041648"/>
            <a:ext cx="3605784" cy="655320"/>
          </a:xfrm>
          <a:prstGeom prst="roundRect">
            <a:avLst>
              <a:gd name="adj" fmla="val 8372"/>
            </a:avLst>
          </a:prstGeom>
          <a:solidFill>
            <a:srgbClr val="FFFFFF"/>
          </a:solidFill>
          <a:ln w="12700">
            <a:solidFill>
              <a:srgbClr val="B9C4D6"/>
            </a:solidFill>
            <a:prstDash val="dash"/>
          </a:ln>
        </p:spPr>
      </p:sp>
      <p:sp>
        <p:nvSpPr>
          <p:cNvPr id="50" name="Shape 48"/>
          <p:cNvSpPr/>
          <p:nvPr/>
        </p:nvSpPr>
        <p:spPr>
          <a:xfrm>
            <a:off x="8208264" y="4177284"/>
            <a:ext cx="384048" cy="384048"/>
          </a:xfrm>
          <a:prstGeom prst="ellipse">
            <a:avLst/>
          </a:prstGeom>
          <a:solidFill>
            <a:srgbClr val="E4E9F0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8208264" y="41772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8702040" y="4078224"/>
            <a:ext cx="2855976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— to be added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502920" y="4824984"/>
            <a:ext cx="3605784" cy="655320"/>
          </a:xfrm>
          <a:prstGeom prst="roundRect">
            <a:avLst>
              <a:gd name="adj" fmla="val 8372"/>
            </a:avLst>
          </a:prstGeom>
          <a:solidFill>
            <a:srgbClr val="FFFFFF"/>
          </a:solidFill>
          <a:ln w="12700">
            <a:solidFill>
              <a:srgbClr val="B9C4D6"/>
            </a:solidFill>
            <a:prstDash val="dash"/>
          </a:ln>
        </p:spPr>
      </p:sp>
      <p:sp>
        <p:nvSpPr>
          <p:cNvPr id="54" name="Shape 52"/>
          <p:cNvSpPr/>
          <p:nvPr/>
        </p:nvSpPr>
        <p:spPr>
          <a:xfrm>
            <a:off x="630936" y="4960620"/>
            <a:ext cx="384048" cy="384048"/>
          </a:xfrm>
          <a:prstGeom prst="ellipse">
            <a:avLst/>
          </a:prstGeom>
          <a:solidFill>
            <a:srgbClr val="E4E9F0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630936" y="49606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56" name="Text 54"/>
          <p:cNvSpPr txBox="1"/>
          <p:nvPr/>
        </p:nvSpPr>
        <p:spPr>
          <a:xfrm>
            <a:off x="1124712" y="4861560"/>
            <a:ext cx="2855976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— to be added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4291584" y="4824984"/>
            <a:ext cx="3605784" cy="655320"/>
          </a:xfrm>
          <a:prstGeom prst="roundRect">
            <a:avLst>
              <a:gd name="adj" fmla="val 8372"/>
            </a:avLst>
          </a:prstGeom>
          <a:solidFill>
            <a:srgbClr val="FFFFFF"/>
          </a:solidFill>
          <a:ln w="12700">
            <a:solidFill>
              <a:srgbClr val="B9C4D6"/>
            </a:solidFill>
            <a:prstDash val="dash"/>
          </a:ln>
        </p:spPr>
      </p:sp>
      <p:sp>
        <p:nvSpPr>
          <p:cNvPr id="58" name="Shape 56"/>
          <p:cNvSpPr/>
          <p:nvPr/>
        </p:nvSpPr>
        <p:spPr>
          <a:xfrm>
            <a:off x="4419600" y="4960620"/>
            <a:ext cx="384048" cy="384048"/>
          </a:xfrm>
          <a:prstGeom prst="ellipse">
            <a:avLst/>
          </a:prstGeom>
          <a:solidFill>
            <a:srgbClr val="E4E9F0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4419600" y="49606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60" name="Text 58"/>
          <p:cNvSpPr txBox="1"/>
          <p:nvPr/>
        </p:nvSpPr>
        <p:spPr>
          <a:xfrm>
            <a:off x="4913376" y="4861560"/>
            <a:ext cx="2855976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— to be added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8080248" y="4824984"/>
            <a:ext cx="3605784" cy="655320"/>
          </a:xfrm>
          <a:prstGeom prst="roundRect">
            <a:avLst>
              <a:gd name="adj" fmla="val 8372"/>
            </a:avLst>
          </a:prstGeom>
          <a:solidFill>
            <a:srgbClr val="FFFFFF"/>
          </a:solidFill>
          <a:ln w="12700">
            <a:solidFill>
              <a:srgbClr val="B9C4D6"/>
            </a:solidFill>
            <a:prstDash val="dash"/>
          </a:ln>
        </p:spPr>
      </p:sp>
      <p:sp>
        <p:nvSpPr>
          <p:cNvPr id="62" name="Shape 60"/>
          <p:cNvSpPr/>
          <p:nvPr/>
        </p:nvSpPr>
        <p:spPr>
          <a:xfrm>
            <a:off x="8208264" y="4960620"/>
            <a:ext cx="384048" cy="384048"/>
          </a:xfrm>
          <a:prstGeom prst="ellipse">
            <a:avLst/>
          </a:prstGeom>
          <a:solidFill>
            <a:srgbClr val="E4E9F0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8208264" y="49606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64" name="Text 62"/>
          <p:cNvSpPr txBox="1"/>
          <p:nvPr/>
        </p:nvSpPr>
        <p:spPr>
          <a:xfrm>
            <a:off x="8702040" y="4861560"/>
            <a:ext cx="2855976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— to be added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502920" y="5608320"/>
            <a:ext cx="3605784" cy="655320"/>
          </a:xfrm>
          <a:prstGeom prst="roundRect">
            <a:avLst>
              <a:gd name="adj" fmla="val 8372"/>
            </a:avLst>
          </a:prstGeom>
          <a:solidFill>
            <a:srgbClr val="FFFFFF"/>
          </a:solidFill>
          <a:ln w="12700">
            <a:solidFill>
              <a:srgbClr val="B9C4D6"/>
            </a:solidFill>
            <a:prstDash val="dash"/>
          </a:ln>
        </p:spPr>
      </p:sp>
      <p:sp>
        <p:nvSpPr>
          <p:cNvPr id="66" name="Shape 64"/>
          <p:cNvSpPr/>
          <p:nvPr/>
        </p:nvSpPr>
        <p:spPr>
          <a:xfrm>
            <a:off x="630936" y="5743956"/>
            <a:ext cx="384048" cy="384048"/>
          </a:xfrm>
          <a:prstGeom prst="ellipse">
            <a:avLst/>
          </a:prstGeom>
          <a:solidFill>
            <a:srgbClr val="E4E9F0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630936" y="57439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68" name="Text 66"/>
          <p:cNvSpPr txBox="1"/>
          <p:nvPr/>
        </p:nvSpPr>
        <p:spPr>
          <a:xfrm>
            <a:off x="1124712" y="5644896"/>
            <a:ext cx="2855976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— to be added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4291584" y="5608320"/>
            <a:ext cx="3605784" cy="655320"/>
          </a:xfrm>
          <a:prstGeom prst="roundRect">
            <a:avLst>
              <a:gd name="adj" fmla="val 8372"/>
            </a:avLst>
          </a:prstGeom>
          <a:solidFill>
            <a:srgbClr val="FFFFFF"/>
          </a:solidFill>
          <a:ln w="12700">
            <a:solidFill>
              <a:srgbClr val="B9C4D6"/>
            </a:solidFill>
            <a:prstDash val="dash"/>
          </a:ln>
        </p:spPr>
      </p:sp>
      <p:sp>
        <p:nvSpPr>
          <p:cNvPr id="70" name="Shape 68"/>
          <p:cNvSpPr/>
          <p:nvPr/>
        </p:nvSpPr>
        <p:spPr>
          <a:xfrm>
            <a:off x="4419600" y="5743956"/>
            <a:ext cx="384048" cy="384048"/>
          </a:xfrm>
          <a:prstGeom prst="ellipse">
            <a:avLst/>
          </a:prstGeom>
          <a:solidFill>
            <a:srgbClr val="E4E9F0"/>
          </a:solidFill>
          <a:ln/>
        </p:spPr>
      </p:sp>
      <p:sp>
        <p:nvSpPr>
          <p:cNvPr id="71" name="Text 69"/>
          <p:cNvSpPr txBox="1"/>
          <p:nvPr/>
        </p:nvSpPr>
        <p:spPr>
          <a:xfrm>
            <a:off x="4419600" y="57439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72" name="Text 70"/>
          <p:cNvSpPr txBox="1"/>
          <p:nvPr/>
        </p:nvSpPr>
        <p:spPr>
          <a:xfrm>
            <a:off x="4913376" y="5644896"/>
            <a:ext cx="2855976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— to be added</a:t>
            </a:r>
            <a:endParaRPr lang="en-US" sz="1050" dirty="0"/>
          </a:p>
        </p:txBody>
      </p:sp>
      <p:sp>
        <p:nvSpPr>
          <p:cNvPr id="73" name="Text 7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 ·  Processing (Sterilization)</a:t>
            </a:r>
            <a:endParaRPr lang="en-US" sz="1000" dirty="0"/>
          </a:p>
        </p:txBody>
      </p:sp>
      <p:sp>
        <p:nvSpPr>
          <p:cNvPr id="74" name="Text 72"/>
          <p:cNvSpPr txBox="1"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UHT PROCESS TRAINING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 ·  FILLING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Key Characteristics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7 most important training points selected from source notes.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1672" cy="543415"/>
          </a:xfrm>
          <a:prstGeom prst="roundRect">
            <a:avLst>
              <a:gd name="adj" fmla="val 1177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1B1F2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755648"/>
            <a:ext cx="415399" cy="415399"/>
          </a:xfrm>
          <a:prstGeom prst="ellipse">
            <a:avLst/>
          </a:prstGeom>
          <a:solidFill>
            <a:srgbClr val="002F6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755648"/>
            <a:ext cx="415399" cy="415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57231" y="1691640"/>
            <a:ext cx="10036193" cy="5434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of Plungers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363071"/>
            <a:ext cx="11091672" cy="543415"/>
          </a:xfrm>
          <a:prstGeom prst="roundRect">
            <a:avLst>
              <a:gd name="adj" fmla="val 1177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1B1F2A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2427079"/>
            <a:ext cx="415399" cy="415399"/>
          </a:xfrm>
          <a:prstGeom prst="ellipse">
            <a:avLst/>
          </a:prstGeom>
          <a:solidFill>
            <a:srgbClr val="002F6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2427079"/>
            <a:ext cx="415399" cy="415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357231" y="2363071"/>
            <a:ext cx="10036193" cy="5434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Aseptic Conditions in Fillers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034502"/>
            <a:ext cx="11091672" cy="543415"/>
          </a:xfrm>
          <a:prstGeom prst="roundRect">
            <a:avLst>
              <a:gd name="adj" fmla="val 1177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1B1F2A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13232" y="3098510"/>
            <a:ext cx="415399" cy="415399"/>
          </a:xfrm>
          <a:prstGeom prst="ellipse">
            <a:avLst/>
          </a:prstGeom>
          <a:solidFill>
            <a:srgbClr val="002F6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3232" y="3098510"/>
            <a:ext cx="415399" cy="415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357231" y="3034502"/>
            <a:ext cx="10036193" cy="5434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Sterilization &amp; Hold Calculation Validation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3705933"/>
            <a:ext cx="11091672" cy="543415"/>
          </a:xfrm>
          <a:prstGeom prst="roundRect">
            <a:avLst>
              <a:gd name="adj" fmla="val 1177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1B1F2A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13232" y="3769941"/>
            <a:ext cx="415399" cy="415399"/>
          </a:xfrm>
          <a:prstGeom prst="ellipse">
            <a:avLst/>
          </a:prstGeom>
          <a:solidFill>
            <a:srgbClr val="002F6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3232" y="3769941"/>
            <a:ext cx="415399" cy="415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357231" y="3705933"/>
            <a:ext cx="10036193" cy="5434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CIP/SIP Process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4377363"/>
            <a:ext cx="11091672" cy="543415"/>
          </a:xfrm>
          <a:prstGeom prst="roundRect">
            <a:avLst>
              <a:gd name="adj" fmla="val 1177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1B1F2A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13232" y="4441371"/>
            <a:ext cx="415399" cy="415399"/>
          </a:xfrm>
          <a:prstGeom prst="ellipse">
            <a:avLst/>
          </a:prstGeom>
          <a:solidFill>
            <a:srgbClr val="002F6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13232" y="4441371"/>
            <a:ext cx="415399" cy="415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357231" y="4377363"/>
            <a:ext cx="10036193" cy="5434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&amp; Managing Gaskets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5048794"/>
            <a:ext cx="11091672" cy="543415"/>
          </a:xfrm>
          <a:prstGeom prst="roundRect">
            <a:avLst>
              <a:gd name="adj" fmla="val 1177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1B1F2A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13232" y="5112802"/>
            <a:ext cx="415399" cy="415399"/>
          </a:xfrm>
          <a:prstGeom prst="ellipse">
            <a:avLst/>
          </a:prstGeom>
          <a:solidFill>
            <a:srgbClr val="002F6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13232" y="5112802"/>
            <a:ext cx="415399" cy="415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357231" y="5048794"/>
            <a:ext cx="10036193" cy="5434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Line Leakages — Required Response Actions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8640" y="5720225"/>
            <a:ext cx="11091672" cy="543415"/>
          </a:xfrm>
          <a:prstGeom prst="roundRect">
            <a:avLst>
              <a:gd name="adj" fmla="val 1177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1B1F2A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13232" y="5784233"/>
            <a:ext cx="415399" cy="415399"/>
          </a:xfrm>
          <a:prstGeom prst="ellipse">
            <a:avLst/>
          </a:prstGeom>
          <a:solidFill>
            <a:srgbClr val="002F6C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13232" y="5784233"/>
            <a:ext cx="415399" cy="415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357231" y="5720225"/>
            <a:ext cx="10036193" cy="5434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Sealing Integrity Checks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 ·  Filling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UHT PROCESS TRAINING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2026-09-09T06:39:47Z</dcterms:created>
  <dcterms:modified xsi:type="dcterms:W3CDTF">2026-09-09T06:39:47Z</dcterms:modified>
</cp:coreProperties>
</file>