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899344"/>
            <a:ext cx="9001125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b="1" sz="5250" i="0" u="none">
                <a:solidFill>
                  <a:srgbClr val="005A9C"/>
                </a:solidFill>
                <a:latin typeface="Poppins"/>
              </a:rPr>
              <a:t>Final Interview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3651944"/>
            <a:ext cx="952500" cy="38100"/>
          </a:xfrm>
          <a:prstGeom prst="rect">
            <a:avLst/>
          </a:prstGeom>
          <a:solidFill>
            <a:srgbClr val="00A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50" y="3975794"/>
            <a:ext cx="85725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Lato"/>
              </a:rPr>
              <a:t>Your Opportunity to Begin a Career Journey with Nestlé Lanka</a:t>
            </a:r>
            <a:r>
              <a:t>
</a:t>
            </a:r>
            <a:r>
              <a:rPr b="1" sz="1950" i="0" u="none">
                <a:solidFill>
                  <a:srgbClr val="475569"/>
                </a:solidFill>
                <a:latin typeface="Lato"/>
              </a:rPr>
              <a:t>Pannala Factory Placement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Congratulations!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38250"/>
            <a:ext cx="5286375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647825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5A9C"/>
                </a:solidFill>
                <a:latin typeface="Poppins SemiBold"/>
              </a:rPr>
              <a:t>You Made It This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47900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You have been selected from approximately </a:t>
            </a:r>
            <a:r>
              <a:rPr b="1" sz="1650" i="0" u="none">
                <a:solidFill>
                  <a:srgbClr val="334155"/>
                </a:solidFill>
                <a:latin typeface="Lato"/>
              </a:rPr>
              <a:t>75+ applicants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. Your journey so far: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146821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A6EB"/>
                </a:solidFill>
                <a:latin typeface="Lato"/>
              </a:rPr>
              <a:t>75+ Applicants ➔ Assessments ➔ Group Assessment ➔ Final 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4574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Reaching this stage means you have already demonstrated exceptional potential and capability. Be proud of this achievement.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8830"/>
            <a:ext cx="3429000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548830"/>
            <a:ext cx="3429000" cy="3552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548830"/>
            <a:ext cx="3429000" cy="3552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6987" y="1832669"/>
            <a:ext cx="70580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The final interview is a two-way conversation. The panel wants to understand: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0889" y="3748980"/>
            <a:ext cx="177022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349055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What drives you? We want to hear about your career aspirations and why you want to build your future with 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5838" y="3748980"/>
            <a:ext cx="25803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Learning Agility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4349055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Demonstrate your ability to learn quickly, adapt to new challenges, and apply past lessons to future situations.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5813" y="3748980"/>
            <a:ext cx="29803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Skills &amp; Teamwork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4349055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Showcase your communication skills and how effectively you collaborate within a dynamic team environment.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7875" y="2986980"/>
            <a:ext cx="476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5" y="2986980"/>
            <a:ext cx="476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5962" y="2986980"/>
            <a:ext cx="600075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What Happens Next?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031206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Positive Attitude: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Approach challenges with optimism and a solution-oriented mindset.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604492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Confidence: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Believe in your skills and experiences, and present them assertively.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177778"/>
            <a:ext cx="8096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Willingness to Learn: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Show that you are open to feedback and eager to develop new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086225"/>
            <a:ext cx="8096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Curiosity &amp; Initiative: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Ask insightful questions and demonstrate a proactive approach to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994671"/>
            <a:ext cx="8096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Professionalism: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Maintain a respectful, engaged, and polished demeanor throughout the process.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045493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618779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192065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100512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008959"/>
            <a:ext cx="2667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What Makes a Strong Candidate?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6025"/>
            <a:ext cx="5286375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486025"/>
            <a:ext cx="5286375" cy="355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62300" y="1895475"/>
            <a:ext cx="5867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Practical guidance for a successful and memorable interview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391" y="2876550"/>
            <a:ext cx="4730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57600"/>
            <a:ext cx="4505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Speak confidently: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Articulate your thoughts clearly and avoid rushing your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591050"/>
            <a:ext cx="4505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Use real examples: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Back up your claims with specific instances from your past experiences or academic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2016" y="2876550"/>
            <a:ext cx="4730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657600"/>
            <a:ext cx="4505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Listen carefully: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Pay close attention to the questions being asked before forming your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4591050"/>
            <a:ext cx="4505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Be authentic: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Let your true personality and enthusiasm for the role shine through naturally.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Interview Success Tips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240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24025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5A9C"/>
                </a:solidFill>
                <a:latin typeface="Poppins SemiBold"/>
              </a:rPr>
              <a:t>Present • Past •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71725"/>
            <a:ext cx="528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Be prepared to confidently speak about your unique journey: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19400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Educational Journey: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Key learnings and academic highlights.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31470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Achievements: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Moments where you excelled or made an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Challenges Overcome: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How you handled adversity and what you learned.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914900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Team Projects: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Your role in collaborative environments.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541020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Future Aspirations: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Where you see yourself growing professionally.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24025"/>
            <a:ext cx="5286375" cy="3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Know Your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38450"/>
            <a:ext cx="1143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33750"/>
            <a:ext cx="1143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33850"/>
            <a:ext cx="1143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33950"/>
            <a:ext cx="1143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2925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Learn About Nestlé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38250"/>
            <a:ext cx="5286375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647825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5A9C"/>
                </a:solidFill>
                <a:latin typeface="Poppins SemiBold"/>
              </a:rPr>
              <a:t>Showcase Your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47900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Demonstrate a genuine interest in the organization and the industry.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146821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Take the time to study about Nestlé's impact, values, and operations both here in Sri Lanka and across the globe.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4574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Understanding our mission to unlock the power of food to enhance quality of life will help you align your goals with 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2150"/>
            <a:ext cx="3429000" cy="401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62150"/>
            <a:ext cx="3429000" cy="401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62150"/>
            <a:ext cx="3429000" cy="401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5836" y="3162300"/>
            <a:ext cx="2620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Global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62375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Join a global organization investing in people, offering world-class manufacturing standards and boundless learning opportunities.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0828" y="3162300"/>
            <a:ext cx="27503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Inclusive 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762375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Thrive in an environment that values diversity, respects every individual, and fosters a deeply inclusive workplace culture.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5813" y="3162300"/>
            <a:ext cx="29803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Innovation-Driven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4219575"/>
            <a:ext cx="2838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Be part of an innovation-driven environment where fresh ideas are encouraged and continuous improvement is a way of life.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7875" y="2400300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962" y="2400300"/>
            <a:ext cx="600075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5025" y="2400300"/>
            <a:ext cx="3619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Why Nestlé?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6687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66875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5A9C"/>
                </a:solidFill>
                <a:latin typeface="Poppins SemiBold"/>
              </a:rPr>
              <a:t>What You Can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1457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The Pannala Factory Placement Program is designed to accelerate your growth: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06705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Work with Experts: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Collaborate daily with highly experienced industry professionals.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6715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Contribute to Projects: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Add tangible value to active, impactful business projects.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66725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Build Workplace Skills: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Develop essential soft and hard skills for your career.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546735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Understand Operations: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Gain deep, practical insights into complex factory operations.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66875"/>
            <a:ext cx="5286375" cy="381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Your Learning Journey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86100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86200"/>
            <a:ext cx="1143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86300"/>
            <a:ext cx="1143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8640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6425"/>
            <a:ext cx="5286375" cy="418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76425"/>
            <a:ext cx="5286375" cy="4181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9391" y="2266950"/>
            <a:ext cx="4730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Merit-Based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48000"/>
            <a:ext cx="4505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Positions are awarded purely on merit. We are looking for individuals who demonstrate exceptional potential and the drive to succeed.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75" y="4286250"/>
            <a:ext cx="428625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2016" y="2266950"/>
            <a:ext cx="47305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05A9C"/>
                </a:solidFill>
                <a:latin typeface="Poppins SemiBold"/>
              </a:rPr>
              <a:t>Placement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048000"/>
            <a:ext cx="4505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Final placement decisions are comprehensively based 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0" y="3990975"/>
            <a:ext cx="2619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Your Core Competencies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0" y="4486275"/>
            <a:ext cx="2619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Final Interview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0" y="4981575"/>
            <a:ext cx="2619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Current Business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Placement &amp;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0" y="4010025"/>
            <a:ext cx="1143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0" y="4505325"/>
            <a:ext cx="1143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0" y="5000625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0375" y="1936849"/>
            <a:ext cx="6191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Prepare your thoughts around these common areas with confidence: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57760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"Tell us about yourself."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(Keep it professional and concise)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131046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"Why Nestlé?"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(Show your research and passion)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04332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"What are your greatest strengths?"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(Align them with the role)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77617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"Can you give an example of teamwork?"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(Use the STAR method)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50903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"Describe a challenge you faced and how you overcame it."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424189"/>
            <a:ext cx="80962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05A9C"/>
                </a:solidFill>
                <a:latin typeface="Lato"/>
              </a:rPr>
              <a:t>"What are your long-term career goals?"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572047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145333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718619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291905"/>
            <a:ext cx="2667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865191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438477"/>
            <a:ext cx="266700" cy="2762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Common Interview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95612"/>
            <a:ext cx="528637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0A6EB"/>
                </a:solidFill>
                <a:latin typeface="Poppins"/>
              </a:rPr>
              <a:t>75+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614862"/>
            <a:ext cx="52863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05A9C"/>
                </a:solidFill>
                <a:latin typeface="Lato"/>
              </a:rPr>
              <a:t>Initial Applicants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914650"/>
            <a:ext cx="5550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05A9C"/>
                </a:solidFill>
                <a:latin typeface="Poppins SemiBold"/>
              </a:rPr>
              <a:t>From Candidates to Talent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51472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Out of more than 75 applicants who started this journey, only a select few made it to the final interview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26720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You have proven your capabilities. Now, step in with confidence and show us why you are the future talent Nestlé is looking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You Are Here for a Reason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45072"/>
            <a:ext cx="11601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05A9C"/>
                </a:solidFill>
                <a:latin typeface="Poppins"/>
              </a:rPr>
              <a:t>Best of Luck!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78572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34155"/>
                </a:solidFill>
                <a:latin typeface="Lato"/>
              </a:rPr>
              <a:t>Confidence comes from preparation. We look forward to a great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55752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0A6EB"/>
                </a:solidFill>
                <a:latin typeface="Lato"/>
              </a:rPr>
              <a:t>Nestlé Lanka – Pannala Factory Placement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04293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87154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417001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776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776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1604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1604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9452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9452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2836"/>
            <a:ext cx="180975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347168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https://media.istockphoto.com/id/2207047394/photo/group-of-diverse-young-professionals-smiling-in-a-modern-office-setting.jpg?s=612x612&amp;w=0&amp;k=20&amp;c=9SH_aKvalGp9E8WCthyauKrVkpQndvz0LYt8mux3AYA=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79097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www.istockphoto.com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35697"/>
            <a:ext cx="1809750" cy="609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330029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https://media.istockphoto.com/id/953226942/photo/confident-applicant-smiling-at-job-interview-with-diverse-hr-managers.jpg?s=612x612&amp;w=0&amp;k=20&amp;c=9kv51eIeG4jKxNxOY7yC_u_NrvIUAD9JZ2_mQY0Q8yg=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77383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www.istockphoto.com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1943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31289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https://news.clemson.edu/wp-content/uploads/2026/02/AMIC-Building_103125_AJ_033-copy-2-1400x788.jpg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55860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news.clemson.edu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0420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509766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https://nam.org/wp-content/uploads/2020/10/Dagenham-RTW-3_1600x900.jpg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34337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themanufacturinginstitute.org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05A9C"/>
                </a:solidFill>
                <a:latin typeface="Poppins SemiBold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